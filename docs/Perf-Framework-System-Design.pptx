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15400" y="0"/>
            <a:ext cx="685800" cy="6858000"/>
          </a:xfrm>
          <a:prstGeom prst="rect">
            <a:avLst/>
          </a:prstGeom>
          <a:solidFill>
            <a:srgbClr val="08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685800" cy="6858000"/>
          </a:xfrm>
          <a:prstGeom prst="rect">
            <a:avLst/>
          </a:prstGeom>
          <a:solidFill>
            <a:srgbClr val="19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0"/>
            <a:ext cx="685800" cy="6858000"/>
          </a:xfrm>
          <a:prstGeom prst="rect">
            <a:avLst/>
          </a:prstGeom>
          <a:solidFill>
            <a:srgbClr val="549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47548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84C8E8"/>
                </a:solidFill>
                <a:latin typeface="Aptos"/>
              </a:defRPr>
            </a:pPr>
            <a:r>
              <a:t>PERF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7680960" cy="1371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System Design &amp;</a:t>
            </a:r>
            <a:br/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713232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0">
                <a:solidFill>
                  <a:srgbClr val="DDE9F3"/>
                </a:solidFill>
                <a:latin typeface="Aptos"/>
              </a:defRPr>
            </a:pPr>
            <a:r>
              <a:t>High-level design • Low-level design • Data model • Runtime 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244360"/>
          </a:solidFill>
          <a:ln>
            <a:solidFill>
              <a:srgbClr val="24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257800"/>
            <a:ext cx="466344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As implemented today — local, single-host JMeter runner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91072"/>
            <a:ext cx="45720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BCCFE0"/>
                </a:solidFill>
                <a:latin typeface="Aptos"/>
              </a:defRPr>
            </a:pPr>
            <a:r>
              <a:t>Architecture review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0866A8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500" b="1">
                <a:solidFill>
                  <a:srgbClr val="193049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14984"/>
            <a:ext cx="10972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A local performance-testing console with separated metadata, artifact, and telemetry responsibilities.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26464"/>
            <a:ext cx="11137392" cy="13716"/>
          </a:xfrm>
          <a:prstGeom prst="rect">
            <a:avLst/>
          </a:prstGeom>
          <a:solidFill>
            <a:srgbClr val="CD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1">
                <a:solidFill>
                  <a:srgbClr val="5B6F82"/>
                </a:solidFill>
                <a:latin typeface="Aptos"/>
              </a:defRPr>
            </a:pPr>
            <a:r>
              <a:t>PERF FRAMEWORK  • 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5B6F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19072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50292" cy="1197864"/>
          </a:xfrm>
          <a:prstGeom prst="rect">
            <a:avLst/>
          </a:prstGeom>
          <a:solidFill>
            <a:srgbClr val="08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3"/>
            <a:ext cx="319125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3172968" cy="8412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5B6F82"/>
                </a:solidFill>
                <a:latin typeface="Aptos"/>
              </a:defRPr>
            </a:pPr>
            <a:r>
              <a:t>Defines JMeter scenarios, validates and versions JMX uploads, launches local Docker-based runs, and presents run summaries and live charts.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19072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50292" cy="1197864"/>
          </a:xfrm>
          <a:prstGeom prst="rect">
            <a:avLst/>
          </a:prstGeom>
          <a:solidFill>
            <a:srgbClr val="19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37943"/>
            <a:ext cx="319125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Core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94560"/>
            <a:ext cx="3172968" cy="8412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5B6F82"/>
                </a:solidFill>
                <a:latin typeface="Aptos"/>
              </a:defRPr>
            </a:pPr>
            <a:r>
              <a:t>Node.js / Express coordinates the workflow. PostgreSQL is the system of record; files remain on disk; InfluxDB and Grafana serve live telemetry.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19072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828800"/>
            <a:ext cx="50292" cy="1197864"/>
          </a:xfrm>
          <a:prstGeom prst="rect">
            <a:avLst/>
          </a:prstGeom>
          <a:solidFill>
            <a:srgbClr val="AE6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837943"/>
            <a:ext cx="319125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Current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194560"/>
            <a:ext cx="3172968" cy="8412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5B6F82"/>
                </a:solidFill>
                <a:latin typeface="Aptos"/>
              </a:defRPr>
            </a:pPr>
            <a:r>
              <a:t>One active run at a time. JMeter executes on the same host through Docker. Remote worker scheduling and distributed execution are not implemented.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10789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93049"/>
                </a:solidFill>
                <a:latin typeface="Aptos"/>
              </a:defRPr>
            </a:pPr>
            <a:r>
              <a:t>Architecture in one sentence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77639"/>
            <a:ext cx="10927080" cy="1078992"/>
          </a:xfrm>
          <a:prstGeom prst="roundRect">
            <a:avLst>
              <a:gd name="adj" fmla="val 8000"/>
            </a:avLst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33672"/>
            <a:ext cx="1037844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93049"/>
                </a:solidFill>
                <a:latin typeface="Aptos"/>
              </a:defRPr>
            </a:pPr>
            <a:r>
              <a:t>Browser UI  →  Express coordinator  →  PostgreSQL + local files  →  Docker/JMeter  →  InfluxDB  →  Grafana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440680"/>
            <a:ext cx="106984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5B6F82"/>
                </a:solidFill>
                <a:latin typeface="Aptos"/>
              </a:defRPr>
            </a:pPr>
            <a:r>
              <a:t>The architecture is a learning / local-lab prototype, not a production or multi-host control plane.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0866A8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500" b="1">
                <a:solidFill>
                  <a:srgbClr val="193049"/>
                </a:solidFill>
                <a:latin typeface="Aptos"/>
              </a:defRPr>
            </a:pPr>
            <a:r>
              <a:t>System context &amp; container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14984"/>
            <a:ext cx="10972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All application components currently run on one developer workstation; Docker hosts the supporting services and JMeter container.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26464"/>
            <a:ext cx="11137392" cy="13716"/>
          </a:xfrm>
          <a:prstGeom prst="rect">
            <a:avLst/>
          </a:prstGeom>
          <a:solidFill>
            <a:srgbClr val="CD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1">
                <a:solidFill>
                  <a:srgbClr val="5B6F82"/>
                </a:solidFill>
                <a:latin typeface="Aptos"/>
              </a:defRPr>
            </a:pPr>
            <a:r>
              <a:t>PERF FRAMEWORK  • 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5B6F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E2F0FA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221992"/>
            <a:ext cx="151790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0866A8"/>
                </a:solidFill>
                <a:latin typeface="Aptos"/>
              </a:defRPr>
            </a:pPr>
            <a:r>
              <a:t>User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05456"/>
            <a:ext cx="1463040" cy="5577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Scenario, run,</a:t>
            </a:r>
            <a:br/>
            <a:r>
              <a:t>monitor,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92024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1993392"/>
            <a:ext cx="202082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193049"/>
                </a:solidFill>
                <a:latin typeface="Aptos"/>
              </a:defRPr>
            </a:pPr>
            <a:r>
              <a:t>Node.js /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76856"/>
            <a:ext cx="1965960" cy="10149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REST API + static UI</a:t>
            </a:r>
            <a:br/>
            <a:r>
              <a:t>127.0.0.1:4000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46888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16002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6128" y="1673352"/>
            <a:ext cx="1837943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197E89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59" y="1956816"/>
            <a:ext cx="1783080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Metadata, status,</a:t>
            </a:r>
            <a:br/>
            <a:r>
              <a:t>summary JSONB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27432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6128" y="2816352"/>
            <a:ext cx="1837943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197E89"/>
                </a:solidFill>
                <a:latin typeface="Aptos"/>
              </a:defRPr>
            </a:pPr>
            <a:r>
              <a:t>Local filesystem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59" y="3099816"/>
            <a:ext cx="1783080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JMX versions, JTL,</a:t>
            </a:r>
            <a:br/>
            <a:r>
              <a:t>logs, snapshots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139696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962656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192024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E2F0FA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993392"/>
            <a:ext cx="192938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0866A8"/>
                </a:solidFill>
                <a:latin typeface="Aptos"/>
              </a:defRPr>
            </a:pPr>
            <a:r>
              <a:t>Docker / JMeter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276856"/>
            <a:ext cx="1874519" cy="10149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One labeled JMeter</a:t>
            </a:r>
            <a:br/>
            <a:r>
              <a:t>container per 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46888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977639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4050791"/>
            <a:ext cx="1380743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197E89"/>
                </a:solidFill>
                <a:latin typeface="Aptos"/>
              </a:defRPr>
            </a:pPr>
            <a:r>
              <a:t>InfluxDB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334255"/>
            <a:ext cx="1325880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Time-series metrics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95560" y="3977639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59568" y="4050791"/>
            <a:ext cx="128930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0866A8"/>
                </a:solidFill>
                <a:latin typeface="Aptos"/>
              </a:defRPr>
            </a:pPr>
            <a:r>
              <a:t>Grafana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4334255"/>
            <a:ext cx="1234440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Dashboard / iframe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44728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100" b="1">
                <a:solidFill>
                  <a:srgbClr val="0866A8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422452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321808"/>
            <a:ext cx="1078992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Browser ↔ API over localhost • API ↔ PostgreSQL on localhost:5433 • JMeter ↔ InfluxDB over Compose network • Grafana on localhost:3000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0866A8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500" b="1">
                <a:solidFill>
                  <a:srgbClr val="193049"/>
                </a:solidFill>
                <a:latin typeface="Aptos"/>
              </a:defRPr>
            </a:pPr>
            <a:r>
              <a:t>High-level design: component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14984"/>
            <a:ext cx="10972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The web application coordinates persistence and process lifecycle; specialized systems handle their best-fit data types.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26464"/>
            <a:ext cx="11137392" cy="13716"/>
          </a:xfrm>
          <a:prstGeom prst="rect">
            <a:avLst/>
          </a:prstGeom>
          <a:solidFill>
            <a:srgbClr val="CD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1">
                <a:solidFill>
                  <a:srgbClr val="5B6F82"/>
                </a:solidFill>
                <a:latin typeface="Aptos"/>
              </a:defRPr>
            </a:pPr>
            <a:r>
              <a:t>PERF FRAMEWORK  • 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5B6F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01368"/>
            <a:ext cx="50292" cy="1243584"/>
          </a:xfrm>
          <a:prstGeom prst="rect">
            <a:avLst/>
          </a:prstGeom>
          <a:solidFill>
            <a:srgbClr val="08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323697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Web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67128"/>
            <a:ext cx="3218688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Scenario creation/update, file selection, execution controls, run monitoring, Grafana embed, and HTML-style results report.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9164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801368"/>
            <a:ext cx="50292" cy="1243584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810512"/>
            <a:ext cx="323697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Application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167128"/>
            <a:ext cx="3218688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Input validation, JMX XML validation, version bookkeeping, run state transitions, Docker process orchestration, JTL summary.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69164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801368"/>
            <a:ext cx="50292" cy="1243584"/>
          </a:xfrm>
          <a:prstGeom prst="rect">
            <a:avLst/>
          </a:prstGeom>
          <a:solidFill>
            <a:srgbClr val="19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1" y="1810512"/>
            <a:ext cx="323697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Execution &amp;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2167128"/>
            <a:ext cx="3218688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JMeter runs as a Docker container; Backend Listener tags metrics by run ID; Grafana queries InfluxDB.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6616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675887"/>
            <a:ext cx="50292" cy="1243584"/>
          </a:xfrm>
          <a:prstGeom prst="rect">
            <a:avLst/>
          </a:prstGeom>
          <a:solidFill>
            <a:srgbClr val="19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685032"/>
            <a:ext cx="323697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41648"/>
            <a:ext cx="3218688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Relational scenario and run records, script-version metadata, indexes/constraints, durable aggregate summary in JSONB.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356616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15968" y="3675887"/>
            <a:ext cx="50292" cy="1243584"/>
          </a:xfrm>
          <a:prstGeom prst="rect">
            <a:avLst/>
          </a:prstGeom>
          <a:solidFill>
            <a:srgbClr val="AE6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685032"/>
            <a:ext cx="323697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Filesystem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041648"/>
            <a:ext cx="3218688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Uploaded JMX versions plus immutable per-run input snapshot, prepared JMX, JTL, and JMeter log.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356616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28431" y="3675887"/>
            <a:ext cx="50292" cy="1243584"/>
          </a:xfrm>
          <a:prstGeom prst="rect">
            <a:avLst/>
          </a:prstGeom>
          <a:solidFill>
            <a:srgbClr val="08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1311" y="3685032"/>
            <a:ext cx="323697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Docker Compose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4041648"/>
            <a:ext cx="3218688" cy="8869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Local InfluxDB 1.8, Grafana, PostgreSQL; named volumes retain service data; bridge network connects containers.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0866A8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500" b="1">
                <a:solidFill>
                  <a:srgbClr val="193049"/>
                </a:solidFill>
                <a:latin typeface="Aptos"/>
              </a:defRPr>
            </a:pPr>
            <a:r>
              <a:t>Deployment topology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14984"/>
            <a:ext cx="10972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Docker Desktop runs Linux containers on the laptop; the Node application itself runs directly on the host.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26464"/>
            <a:ext cx="11137392" cy="13716"/>
          </a:xfrm>
          <a:prstGeom prst="rect">
            <a:avLst/>
          </a:prstGeom>
          <a:solidFill>
            <a:srgbClr val="CD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1">
                <a:solidFill>
                  <a:srgbClr val="5B6F82"/>
                </a:solidFill>
                <a:latin typeface="Aptos"/>
              </a:defRPr>
            </a:pPr>
            <a:r>
              <a:t>PERF FRAMEWORK  • 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5B6F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927080" cy="3886200"/>
          </a:xfrm>
          <a:prstGeom prst="roundRect">
            <a:avLst>
              <a:gd name="adj" fmla="val 8000"/>
            </a:avLst>
          </a:prstGeom>
          <a:solidFill>
            <a:srgbClr val="EBF2F7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4754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5B6F82"/>
                </a:solidFill>
                <a:latin typeface="Aptos"/>
              </a:defRPr>
            </a:pPr>
            <a:r>
              <a:t>HOST MACHINE (macOS)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31720"/>
            <a:ext cx="20574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404872"/>
            <a:ext cx="192938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193049"/>
                </a:solidFill>
                <a:latin typeface="Aptos"/>
              </a:defRPr>
            </a:pPr>
            <a:r>
              <a:t>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88336"/>
            <a:ext cx="1874519" cy="60350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Node.js process</a:t>
            </a:r>
            <a:br/>
            <a:r>
              <a:t>127.0.0.1:4000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40480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913632"/>
            <a:ext cx="192938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AE6F0B"/>
                </a:solidFill>
                <a:latin typeface="Aptos"/>
              </a:defRPr>
            </a:pPr>
            <a:r>
              <a:t>Project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97096"/>
            <a:ext cx="1874519" cy="6492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data/scripts/</a:t>
            </a:r>
            <a:br/>
            <a:r>
              <a:t>results/&lt;run-id&gt;/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2148840"/>
            <a:ext cx="74523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2258568"/>
            <a:ext cx="32918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5B6F82"/>
                </a:solidFill>
                <a:latin typeface="Aptos"/>
              </a:defRPr>
            </a:pPr>
            <a:r>
              <a:t>DOCKER DESKTOP / COMPOSE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2788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2F0FA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1648" y="2862072"/>
            <a:ext cx="170078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197E89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79" y="3145536"/>
            <a:ext cx="1645920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Host port 5433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788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2F0FA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2862072"/>
            <a:ext cx="170078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197E89"/>
                </a:solidFill>
                <a:latin typeface="Aptos"/>
              </a:defRPr>
            </a:pPr>
            <a:r>
              <a:t>InfluxDB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145536"/>
            <a:ext cx="1645920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Internal port 8086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2788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2F0FA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2862072"/>
            <a:ext cx="170078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0866A8"/>
                </a:solidFill>
                <a:latin typeface="Aptos"/>
              </a:defRPr>
            </a:pPr>
            <a:r>
              <a:t>Grafana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145536"/>
            <a:ext cx="1645920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Host port 3000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069080"/>
            <a:ext cx="1828800" cy="822960"/>
          </a:xfrm>
          <a:prstGeom prst="roundRect">
            <a:avLst>
              <a:gd name="adj" fmla="val 8000"/>
            </a:avLst>
          </a:prstGeom>
          <a:solidFill>
            <a:srgbClr val="EEF7FB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4142232"/>
            <a:ext cx="170078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0866A8"/>
                </a:solidFill>
                <a:latin typeface="Aptos"/>
              </a:defRPr>
            </a:pPr>
            <a:r>
              <a:t>JMeter container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25696"/>
            <a:ext cx="1645920" cy="4206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Ephemeral per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292608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16052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34340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900" b="1">
                <a:solidFill>
                  <a:srgbClr val="197E8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01752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900" b="1">
                <a:solidFill>
                  <a:srgbClr val="197E8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4892040"/>
            <a:ext cx="699516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5B6F82"/>
                </a:solidFill>
                <a:latin typeface="Aptos"/>
              </a:defRPr>
            </a:pPr>
            <a:r>
              <a:t>Named Docker volumes: PostgreSQL, InfluxDB, Grafana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0866A8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500" b="1">
                <a:solidFill>
                  <a:srgbClr val="193049"/>
                </a:solidFill>
                <a:latin typeface="Aptos"/>
              </a:defRPr>
            </a:pPr>
            <a:r>
              <a:t>Low-level design: data model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14984"/>
            <a:ext cx="10972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PostgreSQL stores metadata and compact summaries—not JMX, JTL, or log file contents.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26464"/>
            <a:ext cx="11137392" cy="13716"/>
          </a:xfrm>
          <a:prstGeom prst="rect">
            <a:avLst/>
          </a:prstGeom>
          <a:solidFill>
            <a:srgbClr val="CD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1">
                <a:solidFill>
                  <a:srgbClr val="5B6F82"/>
                </a:solidFill>
                <a:latin typeface="Aptos"/>
              </a:defRPr>
            </a:pPr>
            <a:r>
              <a:t>PERF FRAMEWORK  • 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5B6F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9718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01952"/>
            <a:ext cx="284378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0866A8"/>
                </a:solidFill>
                <a:latin typeface="Aptos"/>
              </a:defRPr>
            </a:pPr>
            <a:r>
              <a:t>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85416"/>
            <a:ext cx="2788920" cy="1472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200" b="0">
                <a:solidFill>
                  <a:srgbClr val="1F2F3F"/>
                </a:solidFill>
                <a:latin typeface="Aptos"/>
              </a:defRPr>
            </a:pPr>
            <a:r>
              <a:t>id (UUID, PK)</a:t>
            </a:r>
            <a:br/>
            <a:r>
              <a:t>name, script_name</a:t>
            </a:r>
            <a:br/>
            <a:r>
              <a:t>users, duration, ramp-up</a:t>
            </a:r>
            <a:br/>
            <a:r>
              <a:t>current script path/version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783080"/>
            <a:ext cx="29718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856231"/>
            <a:ext cx="284378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197E89"/>
                </a:solidFill>
                <a:latin typeface="Aptos"/>
              </a:defRPr>
            </a:pPr>
            <a:r>
              <a:t>scenario_script_versions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139696"/>
            <a:ext cx="2788920" cy="11064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100" b="0">
                <a:solidFill>
                  <a:srgbClr val="1F2F3F"/>
                </a:solidFill>
                <a:latin typeface="Aptos"/>
              </a:defRPr>
            </a:pPr>
            <a:r>
              <a:t>scenario_id (FK), version (PK)</a:t>
            </a:r>
            <a:br/>
            <a:r>
              <a:t>filename, filesystem path</a:t>
            </a:r>
            <a:br/>
            <a:r>
              <a:t>SHA-256, created_at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828800"/>
            <a:ext cx="29718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1901952"/>
            <a:ext cx="284378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193049"/>
                </a:solidFill>
                <a:latin typeface="Aptos"/>
              </a:defRPr>
            </a:pPr>
            <a:r>
              <a:t>test_runs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85416"/>
            <a:ext cx="2788920" cy="1472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100" b="0">
                <a:solidFill>
                  <a:srgbClr val="1F2F3F"/>
                </a:solidFill>
                <a:latin typeface="Aptos"/>
              </a:defRPr>
            </a:pPr>
            <a:r>
              <a:t>run_id (PK), scenario_id (FK)</a:t>
            </a:r>
            <a:br/>
            <a:r>
              <a:t>script hash/version + load snapshot</a:t>
            </a:r>
            <a:br/>
            <a:r>
              <a:t>status/timestamps/exit/error</a:t>
            </a:r>
            <a:br/>
            <a:r>
              <a:t>summary JSONB, results_dir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48716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0866A8"/>
                </a:solidFill>
                <a:latin typeface="Aptos"/>
              </a:defRPr>
            </a:pPr>
            <a:r>
              <a:t>1 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248716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0866A8"/>
                </a:solidFill>
                <a:latin typeface="Aptos"/>
              </a:defRPr>
            </a:pPr>
            <a:r>
              <a:t>1 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60520"/>
            <a:ext cx="10652760" cy="1234440"/>
          </a:xfrm>
          <a:prstGeom prst="roundRect">
            <a:avLst>
              <a:gd name="adj" fmla="val 8000"/>
            </a:avLst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43400"/>
            <a:ext cx="30632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0866A8"/>
                </a:solidFill>
                <a:latin typeface="Aptos"/>
              </a:defRPr>
            </a:pPr>
            <a:r>
              <a:t>FILE ARTIFACTS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81728"/>
            <a:ext cx="1001268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193049"/>
                </a:solidFill>
                <a:latin typeface="Aptos"/>
              </a:defRPr>
            </a:pPr>
            <a:r>
              <a:t>data/scripts/&lt;scenario&gt;/&lt;version&gt;  •  results/&lt;run-id&gt;/script.jmx  •  prepared JMX  •  results.jtl  •  jmeter.log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23560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InfluxDB is a separate time-series store for live metrics; Grafana is the visualization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0866A8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500" b="1">
                <a:solidFill>
                  <a:srgbClr val="193049"/>
                </a:solidFill>
                <a:latin typeface="Aptos"/>
              </a:defRPr>
            </a:pPr>
            <a:r>
              <a:t>Low-level design: scenario &amp; script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14984"/>
            <a:ext cx="10972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JMX files are validated as XML and assigned immutable versions before they are used in a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26464"/>
            <a:ext cx="11137392" cy="13716"/>
          </a:xfrm>
          <a:prstGeom prst="rect">
            <a:avLst/>
          </a:prstGeom>
          <a:solidFill>
            <a:srgbClr val="CD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1">
                <a:solidFill>
                  <a:srgbClr val="5B6F82"/>
                </a:solidFill>
                <a:latin typeface="Aptos"/>
              </a:defRPr>
            </a:pPr>
            <a:r>
              <a:t>PERF FRAMEWORK  • 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5B6F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011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53312" y="1847088"/>
            <a:ext cx="566928" cy="566928"/>
          </a:xfrm>
          <a:prstGeom prst="ellipse">
            <a:avLst/>
          </a:prstGeom>
          <a:solidFill>
            <a:srgbClr val="0866A8"/>
          </a:solidFill>
          <a:ln>
            <a:solidFill>
              <a:srgbClr val="086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196596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606040"/>
            <a:ext cx="1719072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193049"/>
                </a:solidFill>
                <a:latin typeface="Aptos"/>
              </a:defRPr>
            </a:pPr>
            <a:r>
              <a:t>Create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108960"/>
            <a:ext cx="1682496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5B6F82"/>
                </a:solidFill>
                <a:latin typeface="Aptos"/>
              </a:defRPr>
            </a:pPr>
            <a:r>
              <a:t>Validate name and load values; insert scenario row.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97180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148840"/>
            <a:ext cx="2011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9312" y="1847088"/>
            <a:ext cx="566928" cy="566928"/>
          </a:xfrm>
          <a:prstGeom prst="ellipse">
            <a:avLst/>
          </a:prstGeom>
          <a:solidFill>
            <a:srgbClr val="0866A8"/>
          </a:solidFill>
          <a:ln>
            <a:solidFill>
              <a:srgbClr val="086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196596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2606040"/>
            <a:ext cx="1719072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193049"/>
                </a:solidFill>
                <a:latin typeface="Aptos"/>
              </a:defRPr>
            </a:pPr>
            <a:r>
              <a:t>Select/upload JMX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108960"/>
            <a:ext cx="1682496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5B6F82"/>
                </a:solidFill>
                <a:latin typeface="Aptos"/>
              </a:defRPr>
            </a:pPr>
            <a:r>
              <a:t>Multer enforces .jmx and 10 MB limit; store under data/scripts/&lt;scenario&gt;.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97180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2148840"/>
            <a:ext cx="2011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25312" y="1847088"/>
            <a:ext cx="566928" cy="566928"/>
          </a:xfrm>
          <a:prstGeom prst="ellipse">
            <a:avLst/>
          </a:prstGeom>
          <a:solidFill>
            <a:srgbClr val="0866A8"/>
          </a:solidFill>
          <a:ln>
            <a:solidFill>
              <a:srgbClr val="086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25312" y="196596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2606040"/>
            <a:ext cx="1719072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193049"/>
                </a:solidFill>
                <a:latin typeface="Aptos"/>
              </a:defRPr>
            </a:pPr>
            <a:r>
              <a:t>Validate &amp; hash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3108960"/>
            <a:ext cx="1682496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5B6F82"/>
                </a:solidFill>
                <a:latin typeface="Aptos"/>
              </a:defRPr>
            </a:pPr>
            <a:r>
              <a:t>Parse XML; require jmeterTestPlan; calculate SHA-256.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97180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2148840"/>
            <a:ext cx="2011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11311" y="1847088"/>
            <a:ext cx="566928" cy="566928"/>
          </a:xfrm>
          <a:prstGeom prst="ellipse">
            <a:avLst/>
          </a:prstGeom>
          <a:solidFill>
            <a:srgbClr val="0866A8"/>
          </a:solidFill>
          <a:ln>
            <a:solidFill>
              <a:srgbClr val="086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1" y="196596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3" y="2606040"/>
            <a:ext cx="1719072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193049"/>
                </a:solidFill>
                <a:latin typeface="Aptos"/>
              </a:defRPr>
            </a:pPr>
            <a:r>
              <a:t>Commit 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3108960"/>
            <a:ext cx="1682496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5B6F82"/>
                </a:solidFill>
                <a:latin typeface="Aptos"/>
              </a:defRPr>
            </a:pPr>
            <a:r>
              <a:t>Transaction locks scenario, increments version, inserts metadata, updates current pointer.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59" y="297180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2148840"/>
            <a:ext cx="2011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97311" y="1847088"/>
            <a:ext cx="566928" cy="566928"/>
          </a:xfrm>
          <a:prstGeom prst="ellipse">
            <a:avLst/>
          </a:prstGeom>
          <a:solidFill>
            <a:srgbClr val="0866A8"/>
          </a:solidFill>
          <a:ln>
            <a:solidFill>
              <a:srgbClr val="086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97311" y="196596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2606040"/>
            <a:ext cx="1719072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193049"/>
                </a:solidFill>
                <a:latin typeface="Aptos"/>
              </a:defRPr>
            </a:pPr>
            <a:r>
              <a:t>Run snapshot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8672" y="3108960"/>
            <a:ext cx="1682496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5B6F82"/>
                </a:solidFill>
                <a:latin typeface="Aptos"/>
              </a:defRPr>
            </a:pPr>
            <a:r>
              <a:t>Copy selected source JMX to results/&lt;run-id&gt;/script.jmx; record its hash/version in run.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010912"/>
            <a:ext cx="10652760" cy="694944"/>
          </a:xfrm>
          <a:prstGeom prst="roundRect">
            <a:avLst>
              <a:gd name="adj" fmla="val 8000"/>
            </a:avLst>
          </a:prstGeom>
          <a:solidFill>
            <a:srgbClr val="FFF7E5"/>
          </a:solidFill>
          <a:ln>
            <a:solidFill>
              <a:srgbClr val="EDD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212080"/>
            <a:ext cx="1014984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>
              <a:defRPr sz="1200" b="1">
                <a:solidFill>
                  <a:srgbClr val="AE6F0B"/>
                </a:solidFill>
                <a:latin typeface="Aptos"/>
              </a:defRPr>
            </a:pPr>
            <a:r>
              <a:t>The original JMX stays on disk; JMeter executes a prepared copy with run-ID metric tagging.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0866A8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500" b="1">
                <a:solidFill>
                  <a:srgbClr val="193049"/>
                </a:solidFill>
                <a:latin typeface="Aptos"/>
              </a:defRPr>
            </a:pPr>
            <a:r>
              <a:t>Low-level design: run execution &amp; state 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14984"/>
            <a:ext cx="10972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A partial unique index on active statuses enforces the current single-active-run policy.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26464"/>
            <a:ext cx="11137392" cy="13716"/>
          </a:xfrm>
          <a:prstGeom prst="rect">
            <a:avLst/>
          </a:prstGeom>
          <a:solidFill>
            <a:srgbClr val="CD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1">
                <a:solidFill>
                  <a:srgbClr val="5B6F82"/>
                </a:solidFill>
                <a:latin typeface="Aptos"/>
              </a:defRPr>
            </a:pPr>
            <a:r>
              <a:t>PERF FRAMEWORK  • 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5B6F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1965960" cy="1170432"/>
          </a:xfrm>
          <a:prstGeom prst="roundRect">
            <a:avLst>
              <a:gd name="adj" fmla="val 8000"/>
            </a:avLst>
          </a:prstGeom>
          <a:solidFill>
            <a:srgbClr val="FFF3D5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1837943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200" b="1">
                <a:solidFill>
                  <a:srgbClr val="AE6F0B"/>
                </a:solidFill>
                <a:latin typeface="Aptos"/>
              </a:defRPr>
            </a:pPr>
            <a:r>
              <a:t>STARTING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1783080" cy="7680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Run row inserted; prepare JMX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148840"/>
            <a:ext cx="1965960" cy="1170432"/>
          </a:xfrm>
          <a:prstGeom prst="roundRect">
            <a:avLst>
              <a:gd name="adj" fmla="val 8000"/>
            </a:avLst>
          </a:prstGeom>
          <a:solidFill>
            <a:srgbClr val="FFF3D5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7" y="2221992"/>
            <a:ext cx="1837943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200" b="1">
                <a:solidFill>
                  <a:srgbClr val="AE6F0B"/>
                </a:solidFill>
                <a:latin typeface="Aptos"/>
              </a:defRPr>
            </a:pPr>
            <a:r>
              <a:t>RUNNING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505456"/>
            <a:ext cx="1783080" cy="7680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Docker container ID stored; monitor wait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2148840"/>
            <a:ext cx="1965960" cy="1170432"/>
          </a:xfrm>
          <a:prstGeom prst="roundRect">
            <a:avLst>
              <a:gd name="adj" fmla="val 8000"/>
            </a:avLst>
          </a:prstGeom>
          <a:solidFill>
            <a:srgbClr val="E3F4EC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3288" y="2221992"/>
            <a:ext cx="1837943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200" b="1">
                <a:solidFill>
                  <a:srgbClr val="147D55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505456"/>
            <a:ext cx="1783080" cy="7680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Exit 0; JTL summary stored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1965960" cy="1170432"/>
          </a:xfrm>
          <a:prstGeom prst="roundRect">
            <a:avLst>
              <a:gd name="adj" fmla="val 8000"/>
            </a:avLst>
          </a:prstGeom>
          <a:solidFill>
            <a:srgbClr val="FBE8E9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2221992"/>
            <a:ext cx="1837943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200" b="1">
                <a:solidFill>
                  <a:srgbClr val="B33A46"/>
                </a:solidFill>
                <a:latin typeface="Aptos"/>
              </a:defRPr>
            </a:pPr>
            <a:r>
              <a:t>FAILED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505456"/>
            <a:ext cx="1783080" cy="7680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Nonzero exit / startup / summary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256032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256032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256032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0866A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3977639"/>
            <a:ext cx="2148840" cy="1005840"/>
          </a:xfrm>
          <a:prstGeom prst="roundRect">
            <a:avLst>
              <a:gd name="adj" fmla="val 8000"/>
            </a:avLst>
          </a:prstGeom>
          <a:solidFill>
            <a:srgbClr val="FFF0D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608" y="4050791"/>
            <a:ext cx="2020824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200" b="1">
                <a:solidFill>
                  <a:srgbClr val="AE6F0B"/>
                </a:solidFill>
                <a:latin typeface="Aptos"/>
              </a:defRPr>
            </a:pPr>
            <a:r>
              <a:t>ABORTED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334255"/>
            <a:ext cx="1965960" cy="60350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000" b="0">
                <a:solidFill>
                  <a:srgbClr val="1F2F3F"/>
                </a:solidFill>
                <a:latin typeface="Aptos"/>
              </a:defRPr>
            </a:pPr>
            <a:r>
              <a:t>User requests stop; Docker stop; summary attempted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42900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000" b="1">
                <a:solidFill>
                  <a:srgbClr val="B33A4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429000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000" b="1">
                <a:solidFill>
                  <a:srgbClr val="B33A46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49240"/>
            <a:ext cx="1042416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On app restart, active runs are reconciled with Docker labels and monitoring resumes when a matching container is found.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0866A8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500" b="1">
                <a:solidFill>
                  <a:srgbClr val="193049"/>
                </a:solidFill>
                <a:latin typeface="Aptos"/>
              </a:defRPr>
            </a:pPr>
            <a:r>
              <a:t>Low-level design: metrics, summaries &amp; baseline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14984"/>
            <a:ext cx="10972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Live metrics and durable run summaries are intentionally handled by separate data paths.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26464"/>
            <a:ext cx="11137392" cy="13716"/>
          </a:xfrm>
          <a:prstGeom prst="rect">
            <a:avLst/>
          </a:prstGeom>
          <a:solidFill>
            <a:srgbClr val="CD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1">
                <a:solidFill>
                  <a:srgbClr val="5B6F82"/>
                </a:solidFill>
                <a:latin typeface="Aptos"/>
              </a:defRPr>
            </a:pPr>
            <a:r>
              <a:t>PERF FRAMEWORK  • 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5B6F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50292" cy="1014984"/>
          </a:xfrm>
          <a:prstGeom prst="rect">
            <a:avLst/>
          </a:prstGeom>
          <a:solidFill>
            <a:srgbClr val="19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56231"/>
            <a:ext cx="319125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Live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12848"/>
            <a:ext cx="3172968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JMeter Backend Listener → InfluxDB. Metrics are tagged with application and runId; Grafana queries and filters by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47088"/>
            <a:ext cx="50292" cy="1014984"/>
          </a:xfrm>
          <a:prstGeom prst="rect">
            <a:avLst/>
          </a:prstGeom>
          <a:solidFill>
            <a:srgbClr val="08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56231"/>
            <a:ext cx="319125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Completed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12848"/>
            <a:ext cx="3172968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API streams results.jtl through CSV parser into HDR histograms; bounded-memory aggregates yield mean, p95/p99, max, failures.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47088"/>
            <a:ext cx="50292" cy="1014984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856231"/>
            <a:ext cx="319125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Baseline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12848"/>
            <a:ext cx="3172968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Latest earlier completed run for same scenario + JMX hash + user/duration/ramp-up settings; selected summary is compared.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29000"/>
            <a:ext cx="10789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11880"/>
            <a:ext cx="1874519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0866A8"/>
                </a:solidFill>
                <a:latin typeface="Aptos"/>
              </a:defRPr>
            </a:pPr>
            <a:r>
              <a:t>REPORT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50208"/>
            <a:ext cx="10012680" cy="5852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193049"/>
                </a:solidFill>
                <a:latin typeface="Aptos"/>
              </a:defRPr>
            </a:pPr>
            <a:r>
              <a:t>Samples  •  Failed samples  •  Error rate  •  Mean latency  •  p95 latency  •  p99 latency  •  Max latency  •  Delta and percent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30368"/>
            <a:ext cx="105156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Baseline uses exact configuration matching to reduce false comparisons. If no earlier matching completed run exists, report explains that no baseline is available.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0866A8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500" b="1">
                <a:solidFill>
                  <a:srgbClr val="193049"/>
                </a:solidFill>
                <a:latin typeface="Aptos"/>
              </a:defRPr>
            </a:pPr>
            <a:r>
              <a:t>Low-level design: API &amp; filesystem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14984"/>
            <a:ext cx="10972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The browser uses same-origin JSON endpoints; the Express API owns file validation and run orchestration.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26464"/>
            <a:ext cx="11137392" cy="13716"/>
          </a:xfrm>
          <a:prstGeom prst="rect">
            <a:avLst/>
          </a:prstGeom>
          <a:solidFill>
            <a:srgbClr val="CD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1">
                <a:solidFill>
                  <a:srgbClr val="5B6F82"/>
                </a:solidFill>
                <a:latin typeface="Aptos"/>
              </a:defRPr>
            </a:pPr>
            <a:r>
              <a:t>PERF FRAMEWORK  • 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5B6F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4406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48463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0866A8"/>
                </a:solidFill>
                <a:latin typeface="Aptos"/>
              </a:defRPr>
            </a:pPr>
            <a:r>
              <a:t>KEY API SURFACES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2412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7E89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2331720"/>
            <a:ext cx="251460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3049"/>
                </a:solidFill>
                <a:latin typeface="Aptos"/>
              </a:defRPr>
            </a:pPr>
            <a:r>
              <a:t>/api/health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31720"/>
            <a:ext cx="14173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5B6F82"/>
                </a:solidFill>
                <a:latin typeface="Aptos"/>
              </a:defRPr>
            </a:pPr>
            <a:r>
              <a:t>DB 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24912"/>
            <a:ext cx="102412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7E89"/>
                </a:solidFill>
                <a:latin typeface="Aptos"/>
              </a:defRPr>
            </a:pPr>
            <a:r>
              <a:t>GET/POST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2724912"/>
            <a:ext cx="251460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3049"/>
                </a:solidFill>
                <a:latin typeface="Aptos"/>
              </a:defRPr>
            </a:pPr>
            <a:r>
              <a:t>/api/scenarios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24912"/>
            <a:ext cx="14173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5B6F82"/>
                </a:solidFill>
                <a:latin typeface="Aptos"/>
              </a:defRPr>
            </a:pPr>
            <a:r>
              <a:t>List / create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18103"/>
            <a:ext cx="102412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7E89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" y="3118103"/>
            <a:ext cx="251460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3049"/>
                </a:solidFill>
                <a:latin typeface="Aptos"/>
              </a:defRPr>
            </a:pPr>
            <a:r>
              <a:t>/api/scenarios/:id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118103"/>
            <a:ext cx="14173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5B6F82"/>
                </a:solidFill>
                <a:latin typeface="Aptos"/>
              </a:defRPr>
            </a:pPr>
            <a:r>
              <a:t>Update 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11296"/>
            <a:ext cx="102412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7E89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3511296"/>
            <a:ext cx="251460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3049"/>
                </a:solidFill>
                <a:latin typeface="Aptos"/>
              </a:defRPr>
            </a:pPr>
            <a:r>
              <a:t>/api/scenarios/:id/script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511296"/>
            <a:ext cx="14173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5B6F82"/>
                </a:solidFill>
                <a:latin typeface="Aptos"/>
              </a:defRPr>
            </a:pPr>
            <a:r>
              <a:t>Upload + version JMX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04487"/>
            <a:ext cx="102412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7E89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3904487"/>
            <a:ext cx="251460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3049"/>
                </a:solidFill>
                <a:latin typeface="Aptos"/>
              </a:defRPr>
            </a:pPr>
            <a:r>
              <a:t>/api/scenarios/:id/script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904487"/>
            <a:ext cx="14173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5B6F82"/>
                </a:solidFill>
                <a:latin typeface="Aptos"/>
              </a:defRPr>
            </a:pPr>
            <a:r>
              <a:t>Read stored 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97679"/>
            <a:ext cx="102412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7E89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4297679"/>
            <a:ext cx="251460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3049"/>
                </a:solidFill>
                <a:latin typeface="Aptos"/>
              </a:defRPr>
            </a:pPr>
            <a:r>
              <a:t>/api/scenarios/:id/runs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297679"/>
            <a:ext cx="14173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5B6F82"/>
                </a:solidFill>
                <a:latin typeface="Aptos"/>
              </a:defRPr>
            </a:pPr>
            <a:r>
              <a:t>Start 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90872"/>
            <a:ext cx="102412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7E89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" y="4690872"/>
            <a:ext cx="251460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3049"/>
                </a:solidFill>
                <a:latin typeface="Aptos"/>
              </a:defRPr>
            </a:pPr>
            <a:r>
              <a:t>/api/runs/:runId/abort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690872"/>
            <a:ext cx="14173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5B6F82"/>
                </a:solidFill>
                <a:latin typeface="Aptos"/>
              </a:defRPr>
            </a:pPr>
            <a:r>
              <a:t>Abort active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84064"/>
            <a:ext cx="1024128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7E89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5084064"/>
            <a:ext cx="251460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93049"/>
                </a:solidFill>
                <a:latin typeface="Aptos"/>
              </a:defRPr>
            </a:pPr>
            <a:r>
              <a:t>/api/runs/:runId/results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5084064"/>
            <a:ext cx="14173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5B6F82"/>
                </a:solidFill>
                <a:latin typeface="Aptos"/>
              </a:defRPr>
            </a:pPr>
            <a:r>
              <a:t>Run + baseline report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1737360"/>
            <a:ext cx="51663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1901952"/>
            <a:ext cx="45720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0866A8"/>
                </a:solidFill>
                <a:latin typeface="Aptos"/>
              </a:defRPr>
            </a:pPr>
            <a:r>
              <a:t>LOCAL STORAGE LAYOUT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395728"/>
            <a:ext cx="4480560" cy="2148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193049"/>
                </a:solidFill>
                <a:latin typeface="Aptos Mono"/>
              </a:defRPr>
            </a:pPr>
            <a:r>
              <a:t>data/</a:t>
            </a:r>
            <a:br/>
            <a:r>
              <a:t>  scripts/&lt;scenario-id&gt;/</a:t>
            </a:r>
            <a:br/>
            <a:r>
              <a:t>    &lt;timestamp&gt;-&lt;safe-name&gt;.jmx</a:t>
            </a:r>
            <a:br/>
            <a:br/>
            <a:r>
              <a:t>results/</a:t>
            </a:r>
            <a:br/>
            <a:r>
              <a:t>  &lt;run-id&gt;/</a:t>
            </a:r>
            <a:br/>
            <a:r>
              <a:t>    script.jmx</a:t>
            </a:r>
            <a:br/>
            <a:r>
              <a:t>    script-influx.jmx</a:t>
            </a:r>
            <a:br/>
            <a:r>
              <a:t>    results.jtl</a:t>
            </a:r>
            <a:br/>
            <a:r>
              <a:t>    jmeter.log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937760"/>
            <a:ext cx="45262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PostgreSQL stores metadata and summary; no JMX/JTL contents are stored in DB.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0866A8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500" b="1">
                <a:solidFill>
                  <a:srgbClr val="193049"/>
                </a:solidFill>
                <a:latin typeface="Aptos"/>
              </a:defRPr>
            </a:pPr>
            <a:r>
              <a:t>Architecture qualities &amp; current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14984"/>
            <a:ext cx="10972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A practical local development system with explicit boundaries that matter before production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26464"/>
            <a:ext cx="11137392" cy="13716"/>
          </a:xfrm>
          <a:prstGeom prst="rect">
            <a:avLst/>
          </a:prstGeom>
          <a:solidFill>
            <a:srgbClr val="CD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1">
                <a:solidFill>
                  <a:srgbClr val="5B6F82"/>
                </a:solidFill>
                <a:latin typeface="Aptos"/>
              </a:defRPr>
            </a:pPr>
            <a:r>
              <a:t>PERF FRAMEWORK  • 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5B6F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50292" cy="1197864"/>
          </a:xfrm>
          <a:prstGeom prst="rect">
            <a:avLst/>
          </a:prstGeom>
          <a:solidFill>
            <a:srgbClr val="08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56231"/>
            <a:ext cx="319125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Security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12848"/>
            <a:ext cx="3172968" cy="8412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UI binds to loopback; Host/Origin checks reject non-local requests. No user authentication. Uploaded JMX is executable code—trusted scripts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47088"/>
            <a:ext cx="50292" cy="1197864"/>
          </a:xfrm>
          <a:prstGeom prst="rect">
            <a:avLst/>
          </a:prstGeom>
          <a:solidFill>
            <a:srgbClr val="19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56231"/>
            <a:ext cx="319125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12848"/>
            <a:ext cx="3172968" cy="8412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Run status in PostgreSQL; labeled containers support recovery after app restart. JTL summary uses streaming processing. Docker volumes retain DB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47088"/>
            <a:ext cx="50292" cy="1197864"/>
          </a:xfrm>
          <a:prstGeom prst="rect">
            <a:avLst/>
          </a:prstGeom>
          <a:solidFill>
            <a:srgbClr val="AE6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856231"/>
            <a:ext cx="319125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Scaling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12848"/>
            <a:ext cx="3172968" cy="8412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One active run, one host, local file paths, no worker registry/queue, no HA or distributed scheduling. CPU/memory limit load capacity.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93049"/>
                </a:solidFill>
                <a:latin typeface="Aptos"/>
              </a:defRPr>
            </a:pPr>
            <a:r>
              <a:t>Operational cautions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69080"/>
            <a:ext cx="10515600" cy="1463040"/>
          </a:xfrm>
          <a:prstGeom prst="rect">
            <a:avLst/>
          </a:prstGeom>
          <a:noFill/>
        </p:spPr>
        <p:txBody>
          <a:bodyPr wrap="square" lIns="36576" rIns="27432" tIns="18288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F3F"/>
                </a:solidFill>
                <a:latin typeface="Aptos"/>
              </a:defRPr>
            </a:pPr>
            <a:r>
              <a:t>•  Compose development defaults (database/Grafana credentials and anonymous viewer mode) are not production settings.</a:t>
            </a:r>
          </a:p>
          <a:p>
            <a:pPr>
              <a:spcAft>
                <a:spcPts val="800"/>
              </a:spcAft>
              <a:defRPr sz="1300">
                <a:solidFill>
                  <a:srgbClr val="1F2F3F"/>
                </a:solidFill>
                <a:latin typeface="Aptos"/>
              </a:defRPr>
            </a:pPr>
            <a:r>
              <a:t>•  Filesystem artifacts require separate backup from PostgreSQL and Docker volumes; local paths are not portable to other hosts.</a:t>
            </a:r>
          </a:p>
          <a:p>
            <a:pPr>
              <a:spcAft>
                <a:spcPts val="800"/>
              </a:spcAft>
              <a:defRPr sz="1300">
                <a:solidFill>
                  <a:srgbClr val="1F2F3F"/>
                </a:solidFill>
                <a:latin typeface="Aptos"/>
              </a:defRPr>
            </a:pPr>
            <a:r>
              <a:t>•  InfluxDB retention is configured to one day; aggregate run summaries persist separately in PostgreSQL.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0866A8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500" b="1">
                <a:solidFill>
                  <a:srgbClr val="193049"/>
                </a:solidFill>
                <a:latin typeface="Aptos"/>
              </a:defRPr>
            </a:pPr>
            <a:r>
              <a:t>Enterprise-architecture tuning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14984"/>
            <a:ext cx="10972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Prioritized changes that improve operability without changing the current product scope.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26464"/>
            <a:ext cx="11137392" cy="13716"/>
          </a:xfrm>
          <a:prstGeom prst="rect">
            <a:avLst/>
          </a:prstGeom>
          <a:solidFill>
            <a:srgbClr val="CD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1">
                <a:solidFill>
                  <a:srgbClr val="5B6F82"/>
                </a:solidFill>
                <a:latin typeface="Aptos"/>
              </a:defRPr>
            </a:pPr>
            <a:r>
              <a:t>PERF FRAMEWORK  • 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5B6F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55648"/>
            <a:ext cx="1077163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56231"/>
            <a:ext cx="2286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0866A8"/>
                </a:solidFill>
                <a:latin typeface="Aptos"/>
              </a:defRPr>
            </a:pPr>
            <a:r>
              <a:t>1  Schema evolution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47088"/>
            <a:ext cx="80010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1F2F3F"/>
                </a:solidFill>
                <a:latin typeface="Aptos"/>
              </a:defRPr>
            </a:pPr>
            <a:r>
              <a:t>Move startup DDL into versioned, transactional migrations; test forward migration and recovery.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560320"/>
            <a:ext cx="1077163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60903"/>
            <a:ext cx="2286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0866A8"/>
                </a:solidFill>
                <a:latin typeface="Aptos"/>
              </a:defRPr>
            </a:pPr>
            <a:r>
              <a:t>2  Artifact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51760"/>
            <a:ext cx="80010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1F2F3F"/>
                </a:solidFill>
                <a:latin typeface="Aptos"/>
              </a:defRPr>
            </a:pPr>
            <a:r>
              <a:t>Store normalized relative artifact keys and resolve under configured roots; validate containment; keep JMX immutable.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364991"/>
            <a:ext cx="1077163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465575"/>
            <a:ext cx="2286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0866A8"/>
                </a:solidFill>
                <a:latin typeface="Aptos"/>
              </a:defRPr>
            </a:pPr>
            <a:r>
              <a:t>3  Backup &amp;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56432"/>
            <a:ext cx="80010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1F2F3F"/>
                </a:solidFill>
                <a:latin typeface="Aptos"/>
              </a:defRPr>
            </a:pPr>
            <a:r>
              <a:t>Define backup/restore for PostgreSQL volumes and filesystem artifacts; add dry-run retention/cleanup policy.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169664"/>
            <a:ext cx="1077163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270248"/>
            <a:ext cx="2286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0866A8"/>
                </a:solidFill>
                <a:latin typeface="Aptos"/>
              </a:defRPr>
            </a:pPr>
            <a:r>
              <a:t>4  Operations 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61104"/>
            <a:ext cx="80010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1F2F3F"/>
                </a:solidFill>
                <a:latin typeface="Aptos"/>
              </a:defRPr>
            </a:pPr>
            <a:r>
              <a:t>Replace development defaults, review anonymous Grafana access, centralize logs, add readiness checks and resource limits.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974336"/>
            <a:ext cx="1077163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74920"/>
            <a:ext cx="2286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0866A8"/>
                </a:solidFill>
                <a:latin typeface="Aptos"/>
              </a:defRPr>
            </a:pPr>
            <a:r>
              <a:t>5  Future multi-host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065775"/>
            <a:ext cx="80010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1F2F3F"/>
                </a:solidFill>
                <a:latin typeface="Aptos"/>
              </a:defRPr>
            </a:pPr>
            <a:r>
              <a:t>If approved later: design worker identity, secure job delivery, shared artifact access, capacity policy, telemetry routing, and aggregation as a separate architecture.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1046988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47D55"/>
                </a:solidFill>
                <a:latin typeface="Aptos"/>
              </a:defRPr>
            </a:pPr>
            <a:r>
              <a:t>Recommended next implementation: versioned PostgreSQL migrations, then artifact portability/backup policy.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4688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1">
                <a:solidFill>
                  <a:srgbClr val="0866A8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106424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500" b="1">
                <a:solidFill>
                  <a:srgbClr val="193049"/>
                </a:solidFill>
                <a:latin typeface="Aptos"/>
              </a:defRPr>
            </a:pPr>
            <a:r>
              <a:t>Appendix: terms &amp; implementation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14984"/>
            <a:ext cx="10972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Useful reading guide for the current codebase.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26464"/>
            <a:ext cx="11137392" cy="13716"/>
          </a:xfrm>
          <a:prstGeom prst="rect">
            <a:avLst/>
          </a:prstGeom>
          <a:solidFill>
            <a:srgbClr val="CD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1">
                <a:solidFill>
                  <a:srgbClr val="5B6F82"/>
                </a:solidFill>
                <a:latin typeface="Aptos"/>
              </a:defRPr>
            </a:pPr>
            <a:r>
              <a:t>PERF FRAMEWORK  • 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800" b="0">
                <a:solidFill>
                  <a:srgbClr val="5B6F8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34747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65376"/>
            <a:ext cx="50292" cy="1289304"/>
          </a:xfrm>
          <a:prstGeom prst="rect">
            <a:avLst/>
          </a:prstGeom>
          <a:solidFill>
            <a:srgbClr val="08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74519"/>
            <a:ext cx="314553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HLD terms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31136"/>
            <a:ext cx="3127248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Coordinator: Express app</a:t>
            </a:r>
            <a:br/>
            <a:r>
              <a:t>Runner: local JMeter container</a:t>
            </a:r>
            <a:br/>
            <a:r>
              <a:t>Telemetry: InfluxDB measurements</a:t>
            </a:r>
            <a:br/>
            <a:r>
              <a:t>Dashboard: Grafana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755648"/>
            <a:ext cx="34747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865376"/>
            <a:ext cx="50292" cy="1289304"/>
          </a:xfrm>
          <a:prstGeom prst="rect">
            <a:avLst/>
          </a:prstGeom>
          <a:solidFill>
            <a:srgbClr val="19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874519"/>
            <a:ext cx="314553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LLD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231136"/>
            <a:ext cx="3127248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5B6F82"/>
                </a:solidFill>
                <a:latin typeface="Aptos"/>
              </a:defRPr>
            </a:pPr>
            <a:r>
              <a:t>JMX: XML test plan</a:t>
            </a:r>
            <a:br/>
            <a:r>
              <a:t>JTL: CSV sample output</a:t>
            </a:r>
            <a:br/>
            <a:r>
              <a:t>Run ID: unique execution key</a:t>
            </a:r>
            <a:br/>
            <a:r>
              <a:t>Baseline: matching earlier 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55648"/>
            <a:ext cx="34747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D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65376"/>
            <a:ext cx="50292" cy="1289304"/>
          </a:xfrm>
          <a:prstGeom prst="rect">
            <a:avLst/>
          </a:prstGeom>
          <a:solidFill>
            <a:srgbClr val="19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19"/>
            <a:ext cx="3145536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Code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31136"/>
            <a:ext cx="3127248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B6F82"/>
                </a:solidFill>
                <a:latin typeface="Aptos"/>
              </a:defRPr>
            </a:pPr>
            <a:r>
              <a:t>web/server.js — API/schema/lifecycle</a:t>
            </a:r>
            <a:br/>
            <a:r>
              <a:t>cli/docker.js — container args/lifecycle</a:t>
            </a:r>
            <a:br/>
            <a:r>
              <a:t>cli/jmx.js — JMX preparation</a:t>
            </a:r>
            <a:br/>
            <a:r>
              <a:t>web/summary.js — JTL 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94760"/>
            <a:ext cx="104241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93049"/>
                </a:solidFill>
                <a:latin typeface="Aptos"/>
              </a:defRPr>
            </a:pPr>
            <a:r>
              <a:t>Supporting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87952"/>
            <a:ext cx="10241280" cy="1051560"/>
          </a:xfrm>
          <a:prstGeom prst="rect">
            <a:avLst/>
          </a:prstGeom>
          <a:noFill/>
        </p:spPr>
        <p:txBody>
          <a:bodyPr wrap="square" lIns="36576" rIns="27432" tIns="18288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F3F"/>
                </a:solidFill>
                <a:latin typeface="Aptos"/>
              </a:defRPr>
            </a:pPr>
            <a:r>
              <a:t>•  infra/docker-compose.yml — PostgreSQL, InfluxDB, Grafana, volumes, ports, network.</a:t>
            </a:r>
          </a:p>
          <a:p>
            <a:pPr>
              <a:spcAft>
                <a:spcPts val="800"/>
              </a:spcAft>
              <a:defRPr sz="1300">
                <a:solidFill>
                  <a:srgbClr val="1F2F3F"/>
                </a:solidFill>
                <a:latin typeface="Aptos"/>
              </a:defRPr>
            </a:pPr>
            <a:r>
              <a:t>•  web/public/ — browser UI, runtime monitor, test results report.</a:t>
            </a:r>
          </a:p>
          <a:p>
            <a:pPr>
              <a:spcAft>
                <a:spcPts val="800"/>
              </a:spcAft>
              <a:defRPr sz="1300">
                <a:solidFill>
                  <a:srgbClr val="1F2F3F"/>
                </a:solidFill>
                <a:latin typeface="Aptos"/>
              </a:defRPr>
            </a:pPr>
            <a:r>
              <a:t>•  README.md — local setup, operating workflow, data lifecycle and constraints.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Testing Framework — System Design and Architecture</dc:title>
  <dc:subject>Current-state high-level and low-level design</dc:subject>
  <dc:creator>Performance Testing Framework</dc:creator>
  <cp:keywords>architecture, system design, JMeter, PostgreSQL, InfluxDB, Grafana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